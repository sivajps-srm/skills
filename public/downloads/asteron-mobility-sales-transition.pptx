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bf71b200f4263" /><Relationship Type="http://schemas.openxmlformats.org/officeDocument/2006/relationships/extended-properties" Target="/docProps/app.xml" Id="R36600487fc254921" /><Relationship Type="http://schemas.openxmlformats.org/officeDocument/2006/relationships/officeDocument" Target="/ppt/presentation.xml" Id="R6ca06c8b7ce3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5fefee5ae450f"/>
  </p:sldMasterIdLst>
  <p:notesMasterIdLst>
    <p:notesMasterId xmlns:r="http://schemas.openxmlformats.org/officeDocument/2006/relationships" r:id="Rd39673a9b6d547f1"/>
  </p:notesMasterIdLst>
  <p:sldIdLst>
    <p:sldId xmlns:r="http://schemas.openxmlformats.org/officeDocument/2006/relationships" id="256" r:id="Ra01ac355bc224de3"/>
    <p:sldId xmlns:r="http://schemas.openxmlformats.org/officeDocument/2006/relationships" id="257" r:id="R66eaabe18c754d77"/>
    <p:sldId xmlns:r="http://schemas.openxmlformats.org/officeDocument/2006/relationships" id="258" r:id="Rb1f10ab85bc44ec6"/>
    <p:sldId xmlns:r="http://schemas.openxmlformats.org/officeDocument/2006/relationships" id="259" r:id="R7bda7843768b4776"/>
    <p:sldId xmlns:r="http://schemas.openxmlformats.org/officeDocument/2006/relationships" id="260" r:id="Rf183d23d5c414c90"/>
    <p:sldId xmlns:r="http://schemas.openxmlformats.org/officeDocument/2006/relationships" id="261" r:id="R122b41404eb443d6"/>
    <p:sldId xmlns:r="http://schemas.openxmlformats.org/officeDocument/2006/relationships" id="262" r:id="R2683f76b9eeb4e08"/>
    <p:sldId xmlns:r="http://schemas.openxmlformats.org/officeDocument/2006/relationships" id="263" r:id="Ra004e6b820e24821"/>
    <p:sldId xmlns:r="http://schemas.openxmlformats.org/officeDocument/2006/relationships" id="264" r:id="R0976f61347104d9b"/>
    <p:sldId xmlns:r="http://schemas.openxmlformats.org/officeDocument/2006/relationships" id="265" r:id="R8c95a8f1e1ff49de"/>
    <p:sldId xmlns:r="http://schemas.openxmlformats.org/officeDocument/2006/relationships" id="266" r:id="Rc38e82a3afbb459d"/>
    <p:sldId xmlns:r="http://schemas.openxmlformats.org/officeDocument/2006/relationships" id="267" r:id="Ra57f8884b44d46ff"/>
    <p:sldId xmlns:r="http://schemas.openxmlformats.org/officeDocument/2006/relationships" id="268" r:id="R74be9c7f78bf409c"/>
    <p:sldId xmlns:r="http://schemas.openxmlformats.org/officeDocument/2006/relationships" id="269" r:id="R7ede80eb28ec4439"/>
    <p:sldId xmlns:r="http://schemas.openxmlformats.org/officeDocument/2006/relationships" id="270" r:id="Radce22773e874af0"/>
    <p:sldId xmlns:r="http://schemas.openxmlformats.org/officeDocument/2006/relationships" id="271" r:id="Rfc0e14833be84c06"/>
    <p:sldId xmlns:r="http://schemas.openxmlformats.org/officeDocument/2006/relationships" id="272" r:id="Re0ddd6776e114b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bf6f86db7f4a23" /><Relationship Type="http://schemas.openxmlformats.org/officeDocument/2006/relationships/slideMaster" Target="/ppt/slideMasters/slideMaster1.xml" Id="Rd6e5fefee5ae450f" /><Relationship Type="http://schemas.openxmlformats.org/officeDocument/2006/relationships/notesMaster" Target="/ppt/notesMasters/notesMaster1.xml" Id="Rd39673a9b6d547f1" /><Relationship Type="http://schemas.openxmlformats.org/officeDocument/2006/relationships/presProps" Target="/ppt/presProps.xml" Id="R0fdb454584784e31" /><Relationship Type="http://schemas.openxmlformats.org/officeDocument/2006/relationships/tableStyles" Target="/ppt/tableStyles.xml" Id="R9ab9c0aa69a74416" /><Relationship Type="http://schemas.openxmlformats.org/officeDocument/2006/relationships/slide" Target="/ppt/slides/slide1.xml" Id="Ra01ac355bc224de3" /><Relationship Type="http://schemas.openxmlformats.org/officeDocument/2006/relationships/slide" Target="/ppt/slides/slide2.xml" Id="R66eaabe18c754d77" /><Relationship Type="http://schemas.openxmlformats.org/officeDocument/2006/relationships/slide" Target="/ppt/slides/slide3.xml" Id="Rb1f10ab85bc44ec6" /><Relationship Type="http://schemas.openxmlformats.org/officeDocument/2006/relationships/slide" Target="/ppt/slides/slide4.xml" Id="R7bda7843768b4776" /><Relationship Type="http://schemas.openxmlformats.org/officeDocument/2006/relationships/slide" Target="/ppt/slides/slide5.xml" Id="Rf183d23d5c414c90" /><Relationship Type="http://schemas.openxmlformats.org/officeDocument/2006/relationships/slide" Target="/ppt/slides/slide6.xml" Id="R122b41404eb443d6" /><Relationship Type="http://schemas.openxmlformats.org/officeDocument/2006/relationships/slide" Target="/ppt/slides/slide7.xml" Id="R2683f76b9eeb4e08" /><Relationship Type="http://schemas.openxmlformats.org/officeDocument/2006/relationships/slide" Target="/ppt/slides/slide8.xml" Id="Ra004e6b820e24821" /><Relationship Type="http://schemas.openxmlformats.org/officeDocument/2006/relationships/slide" Target="/ppt/slides/slide9.xml" Id="R0976f61347104d9b" /><Relationship Type="http://schemas.openxmlformats.org/officeDocument/2006/relationships/slide" Target="/ppt/slides/slide10.xml" Id="R8c95a8f1e1ff49de" /><Relationship Type="http://schemas.openxmlformats.org/officeDocument/2006/relationships/slide" Target="/ppt/slides/slide11.xml" Id="Rc38e82a3afbb459d" /><Relationship Type="http://schemas.openxmlformats.org/officeDocument/2006/relationships/slide" Target="/ppt/slides/slide12.xml" Id="Ra57f8884b44d46ff" /><Relationship Type="http://schemas.openxmlformats.org/officeDocument/2006/relationships/slide" Target="/ppt/slides/slide13.xml" Id="R74be9c7f78bf409c" /><Relationship Type="http://schemas.openxmlformats.org/officeDocument/2006/relationships/slide" Target="/ppt/slides/slide14.xml" Id="R7ede80eb28ec4439" /><Relationship Type="http://schemas.openxmlformats.org/officeDocument/2006/relationships/slide" Target="/ppt/slides/slide15.xml" Id="Radce22773e874af0" /><Relationship Type="http://schemas.openxmlformats.org/officeDocument/2006/relationships/slide" Target="/ppt/slides/slide16.xml" Id="Rfc0e14833be84c06" /><Relationship Type="http://schemas.openxmlformats.org/officeDocument/2006/relationships/slide" Target="/ppt/slides/slide17.xml" Id="Re0ddd6776e11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ac0557bc3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90705f6844e31" /><Relationship Type="http://schemas.openxmlformats.org/officeDocument/2006/relationships/notesMaster" Target="/ppt/notesMasters/notesMaster1.xml" Id="Re4ec240f16af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1b63f4851340bd" /><Relationship Type="http://schemas.openxmlformats.org/officeDocument/2006/relationships/notesMaster" Target="/ppt/notesMasters/notesMaster1.xml" Id="Re5aa014fb4a048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af43b50cc4fd7" /><Relationship Type="http://schemas.openxmlformats.org/officeDocument/2006/relationships/notesMaster" Target="/ppt/notesMasters/notesMaster1.xml" Id="R9729a0bd60ad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ba4e998154670" /><Relationship Type="http://schemas.openxmlformats.org/officeDocument/2006/relationships/notesMaster" Target="/ppt/notesMasters/notesMaster1.xml" Id="R59f6ba6c6145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64ddb0bae4eab" /><Relationship Type="http://schemas.openxmlformats.org/officeDocument/2006/relationships/notesMaster" Target="/ppt/notesMasters/notesMaster1.xml" Id="Rf3af859cf62840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405254f764854" /><Relationship Type="http://schemas.openxmlformats.org/officeDocument/2006/relationships/notesMaster" Target="/ppt/notesMasters/notesMaster1.xml" Id="R678375ee6d69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3089799f6b4c06" /><Relationship Type="http://schemas.openxmlformats.org/officeDocument/2006/relationships/notesMaster" Target="/ppt/notesMasters/notesMaster1.xml" Id="R51661b871f66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9c92a23a6d4855" /><Relationship Type="http://schemas.openxmlformats.org/officeDocument/2006/relationships/notesMaster" Target="/ppt/notesMasters/notesMaster1.xml" Id="R8357f02e6fd846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73e7d48d74478" /><Relationship Type="http://schemas.openxmlformats.org/officeDocument/2006/relationships/notesMaster" Target="/ppt/notesMasters/notesMaster1.xml" Id="Rcbb3fe2150cd4c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f4c252b8b4b2a" /><Relationship Type="http://schemas.openxmlformats.org/officeDocument/2006/relationships/notesMaster" Target="/ppt/notesMasters/notesMaster1.xml" Id="Rd51f3879631d4a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0a8a8d37e467b" /><Relationship Type="http://schemas.openxmlformats.org/officeDocument/2006/relationships/notesMaster" Target="/ppt/notesMasters/notesMaster1.xml" Id="R22aef791cb00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74f346e5d24556" /><Relationship Type="http://schemas.openxmlformats.org/officeDocument/2006/relationships/notesMaster" Target="/ppt/notesMasters/notesMaster1.xml" Id="R5b670e8038e241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40322a26954bd2" /><Relationship Type="http://schemas.openxmlformats.org/officeDocument/2006/relationships/notesMaster" Target="/ppt/notesMasters/notesMaster1.xml" Id="R26f7bc15027a4f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a811fe78a94d55" /><Relationship Type="http://schemas.openxmlformats.org/officeDocument/2006/relationships/notesMaster" Target="/ppt/notesMasters/notesMaster1.xml" Id="R88b7c630a06f4f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db1817ef0243ae" /><Relationship Type="http://schemas.openxmlformats.org/officeDocument/2006/relationships/notesMaster" Target="/ppt/notesMasters/notesMaster1.xml" Id="Re3c2dcbb7ba54e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64978109de44d6" /><Relationship Type="http://schemas.openxmlformats.org/officeDocument/2006/relationships/notesMaster" Target="/ppt/notesMasters/notesMaster1.xml" Id="Rb9926522b2444f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75c5fcb74d4d05" /><Relationship Type="http://schemas.openxmlformats.org/officeDocument/2006/relationships/notesMaster" Target="/ppt/notesMasters/notesMaster1.xml" Id="R65f6736ef12b48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Sales ownership begins where the lead handover ends</a:t>
            </a:r>
          </a:p>
          <a:p xmlns:a="http://schemas.openxmlformats.org/drawingml/2006/main">
            <a:r>
              <a:t>Use this prompt or synthesis: Lead Generation → Sales Ownership → Customer Movement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lead is not yet an opportunity</a:t>
            </a:r>
          </a:p>
          <a:p xmlns:a="http://schemas.openxmlformats.org/drawingml/2006/main">
            <a:r>
              <a:t>Use this prompt or synthesis: At what moment do you personally begin to own the customer outcome?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Ownership must continue across the whole customer journey</a:t>
            </a:r>
          </a:p>
          <a:p xmlns:a="http://schemas.openxmlformats.org/drawingml/2006/main">
            <a:r>
              <a:t>Use this prompt or synthesis: The customer experiences one journey—even when your organisation uses many teams.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Ownership is visible in the next movement you create</a:t>
            </a:r>
          </a:p>
          <a:p xmlns:a="http://schemas.openxmlformats.org/drawingml/2006/main">
            <a:r>
              <a:t>Use this prompt or synthesis: Ownership is not doing everything yourself. It is ensuring that nothing important becomes ownerless.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Asteron’s request is only the visible tip of the opportunity</a:t>
            </a:r>
          </a:p>
          <a:p xmlns:a="http://schemas.openxmlformats.org/drawingml/2006/main">
            <a:r>
              <a:t>Use this prompt or synthesis: What would you need to learn before showing a capability deck?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Rapport is earned through relevance—not extended small talk</a:t>
            </a:r>
          </a:p>
          <a:p xmlns:a="http://schemas.openxmlformats.org/drawingml/2006/main">
            <a:r>
              <a:t>Use this prompt or synthesis: Rapport creates permission to explore—not permission to pitch.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Good discovery moves from situation to consequence</a:t>
            </a:r>
          </a:p>
          <a:p xmlns:a="http://schemas.openxmlformats.org/drawingml/2006/main">
            <a:r>
              <a:t>Use this prompt or synthesis: Which question would reveal why Asteron cannot leave the situation unchanged?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Listen, link and use language the customer can act on</a:t>
            </a:r>
          </a:p>
          <a:p xmlns:a="http://schemas.openxmlformats.org/drawingml/2006/main">
            <a:r>
              <a:t>Use this prompt or synthesis: Clarity makes the decision easier to think about.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symptom becomes a pain point when its consequence is understood</a:t>
            </a:r>
          </a:p>
          <a:p xmlns:a="http://schemas.openxmlformats.org/drawingml/2006/main">
            <a:r>
              <a:t>Use this prompt or synthesis: What evidence would help you test this hypothesis with Priya?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opportunity moves only when the buying group can move</a:t>
            </a:r>
          </a:p>
          <a:p xmlns:a="http://schemas.openxmlformats.org/drawingml/2006/main">
            <a:r>
              <a:t>Use this prompt or synthesis: Map influence, interest, success criteria and likely resistance—not just job titles.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signal shows willingness to invest attention, access or action</a:t>
            </a:r>
          </a:p>
          <a:p xmlns:a="http://schemas.openxmlformats.org/drawingml/2006/main">
            <a:r>
              <a:t>Use this prompt or synthesis: Which signal would justify asking for a workshop commitment?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Business acumen begins with how the customer creates value</a:t>
            </a:r>
          </a:p>
          <a:p xmlns:a="http://schemas.openxmlformats.org/drawingml/2006/main">
            <a:r>
              <a:t>Use this prompt or synthesis: Technology becomes valuable only when it changes an outcome the business cares about.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Value connects a customer problem to a meaningful outcome</a:t>
            </a:r>
          </a:p>
          <a:p xmlns:a="http://schemas.openxmlformats.org/drawingml/2006/main">
            <a:r>
              <a:t>Use this prompt or synthesis: For Asteron: connect release friction to onboarding speed, operational reliability and transformation risk.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Build the first eight minutes of the Asteron conversation</a:t>
            </a:r>
          </a:p>
          <a:p xmlns:a="http://schemas.openxmlformats.org/drawingml/2006/main">
            <a:r>
              <a:t>Use this prompt or synthesis: What will the customer understand or reveal by minute eight?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Three roles create three different learning lenses</a:t>
            </a:r>
          </a:p>
          <a:p xmlns:a="http://schemas.openxmlformats.org/drawingml/2006/main">
            <a:r>
              <a:t>Use this prompt or synthesis: Rotate roles so every learner experiences all three perspectives.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strongest next step is the one the customer is ready to own</a:t>
            </a:r>
          </a:p>
          <a:p xmlns:a="http://schemas.openxmlformats.org/drawingml/2006/main">
            <a:r>
              <a:t>Use this prompt or synthesis: What exact commitment would you ask Priya to make?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demo ends when workplace application begins</a:t>
            </a:r>
          </a:p>
          <a:p xmlns:a="http://schemas.openxmlformats.org/drawingml/2006/main">
            <a:r>
              <a:t>Use this prompt or synthesis: Sales ownership is sustained through deliberate practice, reflection and feedback.</a:t>
            </a:r>
          </a:p>
          <a:p xmlns:a="http://schemas.openxmlformats.org/drawingml/2006/main">
            <a:r>
              <a:t>Connect the discussion back to the Asteron Mobility customer situation.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09d07531648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e77524f0e4217" /><Relationship Type="http://schemas.openxmlformats.org/officeDocument/2006/relationships/slideLayout" Target="/ppt/slideLayouts/slideLayout1.xml" Id="Rdfd26e8f04a7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26e8f04a7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5a2a079f435f" /><Relationship Type="http://schemas.openxmlformats.org/officeDocument/2006/relationships/notesSlide" Target="/ppt/notesSlides/notesSlide1.xml" Id="Rba6cfd8e53a94a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9b4a13919494a" /><Relationship Type="http://schemas.openxmlformats.org/officeDocument/2006/relationships/notesSlide" Target="/ppt/notesSlides/notesSlide2.xml" Id="R66e47579853946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33b6e05aa49fa" /><Relationship Type="http://schemas.openxmlformats.org/officeDocument/2006/relationships/notesSlide" Target="/ppt/notesSlides/notesSlide3.xml" Id="Rda4cad77738d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fbb5046304b08" /><Relationship Type="http://schemas.openxmlformats.org/officeDocument/2006/relationships/notesSlide" Target="/ppt/notesSlides/notesSlide4.xml" Id="R5a8cff61c52c4d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9229e0f7146a9" /><Relationship Type="http://schemas.openxmlformats.org/officeDocument/2006/relationships/notesSlide" Target="/ppt/notesSlides/notesSlide5.xml" Id="R268f0e6b1edc45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4111f361a4607" /><Relationship Type="http://schemas.openxmlformats.org/officeDocument/2006/relationships/notesSlide" Target="/ppt/notesSlides/notesSlide6.xml" Id="R1e451aa59b70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030925cd4766" /><Relationship Type="http://schemas.openxmlformats.org/officeDocument/2006/relationships/notesSlide" Target="/ppt/notesSlides/notesSlide7.xml" Id="Rc17d64ffb3f946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1063f6a30458b" /><Relationship Type="http://schemas.openxmlformats.org/officeDocument/2006/relationships/notesSlide" Target="/ppt/notesSlides/notesSlide8.xml" Id="R2e03d4bd8beb4f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f193a0d3a4932" /><Relationship Type="http://schemas.openxmlformats.org/officeDocument/2006/relationships/notesSlide" Target="/ppt/notesSlides/notesSlide9.xml" Id="Rfb5e85c2600543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5879bbde440ee" /><Relationship Type="http://schemas.openxmlformats.org/officeDocument/2006/relationships/notesSlide" Target="/ppt/notesSlides/notesSlide10.xml" Id="R2aa354b6b4b541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b6ecfc58d43ef" /><Relationship Type="http://schemas.openxmlformats.org/officeDocument/2006/relationships/notesSlide" Target="/ppt/notesSlides/notesSlide11.xml" Id="R3a942ee6889241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6327adbfe4023" /><Relationship Type="http://schemas.openxmlformats.org/officeDocument/2006/relationships/notesSlide" Target="/ppt/notesSlides/notesSlide12.xml" Id="Rf016a150f150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ccd65d5c6436b" /><Relationship Type="http://schemas.openxmlformats.org/officeDocument/2006/relationships/notesSlide" Target="/ppt/notesSlides/notesSlide13.xml" Id="R7a74bced17e54d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722b1f79a4159" /><Relationship Type="http://schemas.openxmlformats.org/officeDocument/2006/relationships/notesSlide" Target="/ppt/notesSlides/notesSlide14.xml" Id="R92d07fa2262e42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9e03300944de6" /><Relationship Type="http://schemas.openxmlformats.org/officeDocument/2006/relationships/notesSlide" Target="/ppt/notesSlides/notesSlide15.xml" Id="Rddac0585e8f54e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a0824e254e1e" /><Relationship Type="http://schemas.openxmlformats.org/officeDocument/2006/relationships/notesSlide" Target="/ppt/notesSlides/notesSlide16.xml" Id="Re5f4192b9e8248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2805934c040c9" /><Relationship Type="http://schemas.openxmlformats.org/officeDocument/2006/relationships/notesSlide" Target="/ppt/notesSlides/notesSlide17.xml" Id="Rae5f45bef7004c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456EADED-B150-407A-8747-14B0D3E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3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E70B2B9-F216-4C40-9AE2-99F494A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8B34C"/>
                </a:solidFill>
              </a:defRPr>
            </a:pPr>
            <a:r>
              <a:rPr sz="1125" b="1" i="0">
                <a:solidFill>
                  <a:srgbClr val="E8B34C"/>
                </a:solidFill>
              </a:rPr>
              <a:t>SKILLS4SALES · ASTERON MOBILITY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7862AE-F7EE-4567-B364-E4B444C9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9FB0B9"/>
                </a:solidFill>
              </a:defRPr>
            </a:pPr>
            <a:r>
              <a:rPr sz="975" b="1" i="0">
                <a:solidFill>
                  <a:srgbClr val="9FB0B9"/>
                </a:solidFill>
              </a:rPr>
              <a:t>01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916577-EBB4-4071-A516-BFBEC23A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Sales ownership begins where the lead handover ends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C36FC1A4-1284-4B9C-83B5-F835D98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E8B34C"/>
                </a:solidFill>
              </a:defRPr>
            </a:pPr>
            <a:r>
              <a:rPr sz="2100" b="0" i="0">
                <a:solidFill>
                  <a:srgbClr val="E8B34C"/>
                </a:solidFill>
              </a:rPr>
              <a:t>A connected learning journey from initial interest to an earned customer commitment.</a:t>
            </a:r>
          </a:p>
        </p:txBody>
      </p:sp>
      <p:sp>
        <p:nvSpPr>
          <p:cNvPr id="6" name="callout">
            <a:extLst xmlns:a="http://schemas.openxmlformats.org/drawingml/2006/main">
              <a:ext uri="{FF2B5EF4-FFF2-40B4-BE49-F238E27FC236}">
                <a16:creationId xmlns:a16="http://schemas.microsoft.com/office/drawing/2014/main" id="{3B7DC943-2E44-4709-828E-5E5C682E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1">
                <a:solidFill>
                  <a:srgbClr val="FFFFFF"/>
                </a:solidFill>
              </a:defRPr>
            </a:pPr>
            <a:r>
              <a:rPr sz="1800" b="0" i="1">
                <a:solidFill>
                  <a:srgbClr val="FFFFFF"/>
                </a:solidFill>
              </a:rPr>
              <a:t>Lead Generation → Sales Ownership → Customer Movement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CAD55AD-CF42-40EB-ADD7-009ACF6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9FB0B9"/>
                </a:solidFill>
              </a:defRPr>
            </a:pPr>
            <a:r>
              <a:rPr sz="825" b="0" i="0">
                <a:solidFill>
                  <a:srgbClr val="9FB0B9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487422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329EF966-697D-42E9-8136-D07148DE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3B2F82-CF72-4C04-A278-2120E75D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OPENING PULSE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2C755B-226E-4379-A636-371FB65D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02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041250-4B0F-49D1-8E35-E9E6DA00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A lead is not yet an opportunity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1791BB4-F008-45EF-996F-78878B2C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Lead generation creates attention and identifies possible interest. Sales creates informed movement by accepting responsibility for what happens next.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F5BD96B4-A218-4016-B0A8-B0D216B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Interest tells us where to look.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Discovery tells us whether change matters.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Commitment tells us whether the opportunity is moving.</a:t>
            </a:r>
          </a:p>
        </p:txBody>
      </p:sp>
      <p:sp>
        <p:nvSpPr>
          <p:cNvPr id="7" name="callout-rule">
            <a:extLst xmlns:a="http://schemas.openxmlformats.org/drawingml/2006/main">
              <a:ext uri="{FF2B5EF4-FFF2-40B4-BE49-F238E27FC236}">
                <a16:creationId xmlns:a16="http://schemas.microsoft.com/office/drawing/2014/main" id="{B5B22E73-57CD-44FB-8F15-60FB3071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3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287E7BBD-293E-4C65-A9C3-6659FCD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10283A"/>
                </a:solidFill>
              </a:defRPr>
            </a:pPr>
            <a:r>
              <a:rPr sz="1725" b="0" i="1">
                <a:solidFill>
                  <a:srgbClr val="10283A"/>
                </a:solidFill>
              </a:rPr>
              <a:t>At what moment do you personally begin to own the customer outcome?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6AA0186-8142-4FCC-B516-F87F7F8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30736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CF582693-E7BB-4DF1-A3AE-CE256147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32C089-3706-48C5-9D15-D317C08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CUSTOMER LIFECYCLE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83D0B8-A7CA-4402-8C35-D0023FC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03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FD18CE-4899-4208-BCEB-DABF0084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Ownership must continue across the whole customer journey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C737D146-2D61-4549-BA01-2EB7DBB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A salesperson does not merely carry a lead to a proposal. Ownership means protecting continuity from first conversation through value realisation and growth.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7E3F7A34-0C3D-4A60-ABA8-B2445C58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Prospect — establish relevance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Qualified lead — clarify why now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Discovery — understand impact and people</a:t>
            </a:r>
          </a:p>
        </p:txBody>
      </p:sp>
      <p:sp>
        <p:nvSpPr>
          <p:cNvPr id="7" name="key-points">
            <a:extLst xmlns:a="http://schemas.openxmlformats.org/drawingml/2006/main">
              <a:ext uri="{FF2B5EF4-FFF2-40B4-BE49-F238E27FC236}">
                <a16:creationId xmlns:a16="http://schemas.microsoft.com/office/drawing/2014/main" id="{E515F6D3-4E57-4D81-AA33-683BC4A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Solution — connect value to priorities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Decision — earn a credible commitment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Onboarding and growth — sustain the promised outcome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3569FA1A-CA4A-40D8-841E-525E2F8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9694C"/>
                </a:solidFill>
              </a:defRPr>
            </a:pPr>
            <a:r>
              <a:rPr sz="1425" b="1" i="0">
                <a:solidFill>
                  <a:srgbClr val="E9694C"/>
                </a:solidFill>
              </a:rPr>
              <a:t>The customer experiences one journey—even when your organisation uses many teams.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CB54938-5C84-4520-BFC0-3B603DBB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750732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6313100B-6654-4319-8D63-48533D7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E71BC5F-2C30-4648-9B27-BE680C7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SALES OWNERSHIP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5D31AD-67DE-412E-9A2B-A30B429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04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F9A264-B379-430D-9E22-B42B66BF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Ownership is visible in the next movement you create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36913A1-5331-4037-A006-ACB0B5B4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The strongest salesperson knows what the customer needs to understand, decide or do next—and takes responsibility for making that movement useful.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D15BEE10-17A4-4405-AF6E-DA186EF8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Prepare before contacting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Clarify the business trigger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Map the people involved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Make the next commitment explicit</a:t>
            </a:r>
          </a:p>
        </p:txBody>
      </p:sp>
      <p:sp>
        <p:nvSpPr>
          <p:cNvPr id="7" name="callout-panel">
            <a:extLst xmlns:a="http://schemas.openxmlformats.org/drawingml/2006/main">
              <a:ext uri="{FF2B5EF4-FFF2-40B4-BE49-F238E27FC236}">
                <a16:creationId xmlns:a16="http://schemas.microsoft.com/office/drawing/2014/main" id="{0EEA3F11-F864-4E31-9A45-889A923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A"/>
          </a:solidFill>
          <a:ln xmlns:a="http://schemas.openxmlformats.org/drawingml/2006/main" w="9525">
            <a:solidFill>
              <a:srgbClr val="D7DEDB"/>
            </a:solidFill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E2CBF7DE-8498-43B7-9725-7A4AF207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0283A"/>
                </a:solidFill>
              </a:defRPr>
            </a:pPr>
            <a:r>
              <a:rPr sz="1875" b="0" i="1">
                <a:solidFill>
                  <a:srgbClr val="10283A"/>
                </a:solidFill>
              </a:rPr>
              <a:t>Ownership is not doing everything yourself. It is ensuring that nothing important becomes ownerless.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AD7FCBE-DC51-4038-A966-604322E5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009737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B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CE3C2EA2-7A90-40FC-9A62-DD9D383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2E6ACEE-EBA9-4A2E-B7FA-34A770E3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THE CUSTOMER SITUATION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C94545-083A-4B57-BBC6-BEC10D9E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05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AA8E83-D8BB-452A-992D-55C0F0E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Asteron’s request is only the visible tip of the opportunity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44351DC3-C1B8-49E1-9B12-DEFD922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Asteron Mobility operates 11 plants and is onboarding two EV customers. Priya Nair, VP Operations, has requested an automation overview after downloading a paper.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5A629D03-9A94-4313-9C9A-CC619F6E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Known: scale, growth pressure, interest in automation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Unknown: business trigger, cost of delay, buying group, decision path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Risk: responding to the request without understanding the situation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89E9E3A6-EAC4-41FC-8CB4-6163DC54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00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F43DF675-C395-4629-93BF-3EB54CD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E8B34C"/>
                </a:solidFill>
              </a:defRPr>
            </a:pPr>
            <a:r>
              <a:rPr sz="975" b="1" i="0">
                <a:solidFill>
                  <a:srgbClr val="E8B34C"/>
                </a:solidFill>
              </a:rPr>
              <a:t>PAUSE &amp; APPLY</a:t>
            </a:r>
          </a:p>
        </p:txBody>
      </p:sp>
      <p:sp>
        <p:nvSpPr>
          <p:cNvPr id="9" name="prompt">
            <a:extLst xmlns:a="http://schemas.openxmlformats.org/drawingml/2006/main">
              <a:ext uri="{FF2B5EF4-FFF2-40B4-BE49-F238E27FC236}">
                <a16:creationId xmlns:a16="http://schemas.microsoft.com/office/drawing/2014/main" id="{A9799CA6-4389-4B6E-946A-A99479F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What would you need to learn before showing a capability deck?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55FCACF-5B21-48E4-A740-4C53F4FD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613647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C0A0A373-96B8-474C-A447-3AA9AEB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7758814-3112-40B3-AFF5-E8B99E60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RAPPORT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0DA849-9D46-47B0-9EEC-9D01820E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06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0A27B0-0DDC-41B6-BC03-7CD65CD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Rapport is earned through relevance—not extended small talk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D99BAF21-D912-40FF-B0BE-3B5B894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Customers experience rapport when the salesperson demonstrates preparation, attention and respect for their reality.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CC9CAE28-D7C7-423B-B906-318546F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Open with a relevant reason for the conversation.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Use the customer’s language before introducing your own.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Follow up on significant words to show that you heard what matters.</a:t>
            </a:r>
          </a:p>
        </p:txBody>
      </p:sp>
      <p:sp>
        <p:nvSpPr>
          <p:cNvPr id="7" name="callout-panel">
            <a:extLst xmlns:a="http://schemas.openxmlformats.org/drawingml/2006/main">
              <a:ext uri="{FF2B5EF4-FFF2-40B4-BE49-F238E27FC236}">
                <a16:creationId xmlns:a16="http://schemas.microsoft.com/office/drawing/2014/main" id="{987E1930-579B-45CA-9BEC-3C5B36D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A"/>
          </a:solidFill>
          <a:ln xmlns:a="http://schemas.openxmlformats.org/drawingml/2006/main" w="9525">
            <a:solidFill>
              <a:srgbClr val="D7DEDB"/>
            </a:solidFill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C163AA24-C5DE-432C-83CD-C2CD827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0283A"/>
                </a:solidFill>
              </a:defRPr>
            </a:pPr>
            <a:r>
              <a:rPr sz="1875" b="0" i="1">
                <a:solidFill>
                  <a:srgbClr val="10283A"/>
                </a:solidFill>
              </a:rPr>
              <a:t>Rapport creates permission to explore—not permission to pitch.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CA21B76-A6C3-4A9E-AD6F-1519F35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26005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59C193C7-9B21-416F-A461-A5CDDA18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CA7A84D-DB25-4980-B9F2-942C89B0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QUESTIONING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8A105A-0DD1-41C5-BA12-C53C7EA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07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A567AA-E2B8-4242-89C2-ECD220C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Good discovery moves from situation to consequence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29A2BEDB-7922-4283-B4A6-6E99985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Questions should form a purposeful sequence. Each answer should help you decide what to explore next.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E9E66356-204E-4AFC-94D8-BA4F5F3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Situation — What is happening today?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Friction — Where does the current approach break down?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Impact — What does that affect commercially or operationally?</a:t>
            </a:r>
          </a:p>
        </p:txBody>
      </p:sp>
      <p:sp>
        <p:nvSpPr>
          <p:cNvPr id="7" name="key-points">
            <a:extLst xmlns:a="http://schemas.openxmlformats.org/drawingml/2006/main">
              <a:ext uri="{FF2B5EF4-FFF2-40B4-BE49-F238E27FC236}">
                <a16:creationId xmlns:a16="http://schemas.microsoft.com/office/drawing/2014/main" id="{512D89B9-BE6F-450C-AF08-655FCDD7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Priority — Why does it matter now?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Movement — Who must be involved and what should happen next?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215CAE7F-D509-4B2C-BA73-1AD90B76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9694C"/>
                </a:solidFill>
              </a:defRPr>
            </a:pPr>
            <a:r>
              <a:rPr sz="1425" b="1" i="0">
                <a:solidFill>
                  <a:srgbClr val="E9694C"/>
                </a:solidFill>
              </a:rPr>
              <a:t>Which question would reveal why Asteron cannot leave the situation unchanged?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41762D2-7631-4031-A7A5-EAA1722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579204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75CC621C-2E40-423D-A79C-AA81D89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D10F4DC-A2A9-450B-B9D7-D4E89AE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BUSINESS COMMUNICATION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A6E4D9-AFBA-4B9E-893E-E0606B5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08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D7A32A-3FA7-4BBD-B9F2-8C5EB31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Listen, link and use language the customer can act on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9198E2C7-B06B-478A-96B4-B4856F9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A clear conversation connects what the customer said to why it matters, without hiding behind technical detail.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ED575E08-03CE-4992-B787-E701741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Listen for facts, emotions, constraints and significant words.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Link the issue to an operational or commercial consequence.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Use plain language and confirm shared understanding.</a:t>
            </a:r>
          </a:p>
        </p:txBody>
      </p:sp>
      <p:sp>
        <p:nvSpPr>
          <p:cNvPr id="7" name="callout-panel">
            <a:extLst xmlns:a="http://schemas.openxmlformats.org/drawingml/2006/main">
              <a:ext uri="{FF2B5EF4-FFF2-40B4-BE49-F238E27FC236}">
                <a16:creationId xmlns:a16="http://schemas.microsoft.com/office/drawing/2014/main" id="{72A117AD-FDB0-43C1-982B-3B7393A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A"/>
          </a:solidFill>
          <a:ln xmlns:a="http://schemas.openxmlformats.org/drawingml/2006/main" w="9525">
            <a:solidFill>
              <a:srgbClr val="D7DEDB"/>
            </a:solidFill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58F8003D-8D70-4923-8F33-C5511F66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0283A"/>
                </a:solidFill>
              </a:defRPr>
            </a:pPr>
            <a:r>
              <a:rPr sz="1875" b="0" i="1">
                <a:solidFill>
                  <a:srgbClr val="10283A"/>
                </a:solidFill>
              </a:rPr>
              <a:t>Clarity makes the decision easier to think about.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832677D-3029-427C-8941-3A939952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3330824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5627F09A-290C-4A3C-B936-94ABA4B5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944565F-4922-4498-8C85-4A55A0C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PAIN POINTS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8510E8-CC61-4A94-8A72-C9D3F02F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09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D73523-303B-41DF-8AB7-32FF15B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A symptom becomes a pain point when its consequence is understood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D00E1556-99BE-4015-A824-D454755E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‘Release coordination is difficult’ describes friction. Discovery becomes commercially meaningful when we uncover what that friction delays, increases, threatens or prevents.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3AD37F09-6217-40DC-B65A-4C94E3E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Symptom: repeated coordination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Operational effect: slower release cycles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Business consequence: delayed customer onboarding and revenue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Personal consequence: reduced confidence in transformation</a:t>
            </a:r>
          </a:p>
        </p:txBody>
      </p:sp>
      <p:sp>
        <p:nvSpPr>
          <p:cNvPr id="7" name="callout-rule">
            <a:extLst xmlns:a="http://schemas.openxmlformats.org/drawingml/2006/main">
              <a:ext uri="{FF2B5EF4-FFF2-40B4-BE49-F238E27FC236}">
                <a16:creationId xmlns:a16="http://schemas.microsoft.com/office/drawing/2014/main" id="{DC60C4CC-6E80-4ADF-AD1F-955791CC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3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EDEEFAF0-4B4D-4DB8-A7D9-1421CEE3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10283A"/>
                </a:solidFill>
              </a:defRPr>
            </a:pPr>
            <a:r>
              <a:rPr sz="1725" b="0" i="1">
                <a:solidFill>
                  <a:srgbClr val="10283A"/>
                </a:solidFill>
              </a:rPr>
              <a:t>What evidence would help you test this hypothesis with Priya?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BF20594-D82B-4DAC-8855-BB9B1D1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674719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375EED43-C315-4C34-9148-11A1BD7B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4C13417-DABD-4A3F-BD06-38A0F65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STAKEHOLDER MAPPING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DE8EFD-7E3B-4118-A7B7-442557A7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10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1F3695-76A7-49BF-A7FB-D69736A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The opportunity moves only when the buying group can move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8DCB1189-8314-4BD9-A9D8-BB87355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Different stakeholders judge the same change through different success and risk criteria.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DFADF27A-D0D0-4D48-B66B-D77A074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Priya · Sponsor — operational speed and adoption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Dev · CIO — stability, integration and disruption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Meera · Plant Head — reliability and usability</a:t>
            </a:r>
          </a:p>
        </p:txBody>
      </p:sp>
      <p:sp>
        <p:nvSpPr>
          <p:cNvPr id="7" name="key-points">
            <a:extLst xmlns:a="http://schemas.openxmlformats.org/drawingml/2006/main">
              <a:ext uri="{FF2B5EF4-FFF2-40B4-BE49-F238E27FC236}">
                <a16:creationId xmlns:a16="http://schemas.microsoft.com/office/drawing/2014/main" id="{9586F269-3975-4BF6-BEB3-29E4C15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Omar · Finance — measurable return and risk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Procurement · Process — commercial and governance fit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95DC2333-98EB-4D7C-A585-96AB0CC2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9694C"/>
                </a:solidFill>
              </a:defRPr>
            </a:pPr>
            <a:r>
              <a:rPr sz="1425" b="1" i="0">
                <a:solidFill>
                  <a:srgbClr val="E9694C"/>
                </a:solidFill>
              </a:rPr>
              <a:t>Map influence, interest, success criteria and likely resistance—not just job titles.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8565ED6-E8C7-4650-8EEC-DFC71964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031679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34E0FFCA-2ED8-4D17-8131-2359E29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F0B2855-1B7F-465E-8DB6-BA9FFF3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BUYING SIGNALS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75A888-CF67-49C9-BB97-BBF6AE51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11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8EDBB0-B52B-4172-9252-10A87DD4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A signal shows willingness to invest attention, access or action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EC7C736B-2A12-4E57-B4D6-818F11F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Questions about capability are not always buying signals. Stronger signals involve internal participation, feasibility, timing or a concrete next step.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1AD2988C-55C9-4ACB-A64C-F6435D32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Information: ‘Can you send an overview?’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Interest: ‘Have you done this in a similar environment?’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Movement: ‘Who should join a discovery workshop?’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Commitment: ‘Can we reserve time next week with Operations and IT?’</a:t>
            </a:r>
          </a:p>
        </p:txBody>
      </p:sp>
      <p:sp>
        <p:nvSpPr>
          <p:cNvPr id="7" name="callout-panel">
            <a:extLst xmlns:a="http://schemas.openxmlformats.org/drawingml/2006/main">
              <a:ext uri="{FF2B5EF4-FFF2-40B4-BE49-F238E27FC236}">
                <a16:creationId xmlns:a16="http://schemas.microsoft.com/office/drawing/2014/main" id="{AE4D3793-9266-48ED-98E6-D9A6B16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A"/>
          </a:solidFill>
          <a:ln xmlns:a="http://schemas.openxmlformats.org/drawingml/2006/main" w="9525">
            <a:solidFill>
              <a:srgbClr val="D7DEDB"/>
            </a:solidFill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967D56C6-715D-4588-AEC7-226DBF9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0283A"/>
                </a:solidFill>
              </a:defRPr>
            </a:pPr>
            <a:r>
              <a:rPr sz="1875" b="0" i="1">
                <a:solidFill>
                  <a:srgbClr val="10283A"/>
                </a:solidFill>
              </a:rPr>
              <a:t>Which signal would justify asking for a workshop commitment?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E4184F3-FBC2-47E9-8AB3-216A734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443729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28509EB6-BF47-4068-A8F8-F5B105D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26F7D54-9FF1-4C78-9165-6E4726F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UNDERSTANDING THE BUSINESS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271E64-5F8B-4637-98EF-F386215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12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510AE0-F496-4583-AAD1-5BAB6CF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Business acumen begins with how the customer creates value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9A25E5DF-E241-4B24-95E9-2FC4BE3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Before describing a solution, understand how Asteron wins, what the operating model must deliver and where performance is constrained.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243F05B3-B7D7-42EA-A671-F4883195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Strategic priority — EV customer growth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Operating requirement — dependable, faster releases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Constraint — fragmented routines and 14 hand-offs</a:t>
            </a:r>
          </a:p>
        </p:txBody>
      </p:sp>
      <p:sp>
        <p:nvSpPr>
          <p:cNvPr id="7" name="key-points">
            <a:extLst xmlns:a="http://schemas.openxmlformats.org/drawingml/2006/main">
              <a:ext uri="{FF2B5EF4-FFF2-40B4-BE49-F238E27FC236}">
                <a16:creationId xmlns:a16="http://schemas.microsoft.com/office/drawing/2014/main" id="{67DE1376-29A7-4805-8B4D-9B799E8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Stake — onboarding dates, service reliability and confidence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Measure — time, disruption, risk and speed to value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0F924D14-CFD1-4444-A40E-03B004D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9694C"/>
                </a:solidFill>
              </a:defRPr>
            </a:pPr>
            <a:r>
              <a:rPr sz="1425" b="1" i="0">
                <a:solidFill>
                  <a:srgbClr val="E9694C"/>
                </a:solidFill>
              </a:rPr>
              <a:t>Technology becomes valuable only when it changes an outcome the business cares about.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D4688BF-037D-4062-A36B-53F84C1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20001463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9A0B2A1B-681E-4D38-962E-65A64B2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68CBBBC-29DC-4C9E-ADEF-33C7B84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VALUE CONVERSATIONS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9DD4EE-3EF7-47C3-95AB-8B428E9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13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D2C569-5842-42FD-9DF9-30D1079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Value connects a customer problem to a meaningful outcome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11A0C5ED-4D32-4A84-A814-2693827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A value conversation is a shared explanation of why change matters—not a list of product advantages.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4C54D66C-F61B-47D5-92DA-2416C41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Because you are experiencing…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It is affecting…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We can help you achieve…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By changing…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While reducing…</a:t>
            </a:r>
          </a:p>
        </p:txBody>
      </p:sp>
      <p:sp>
        <p:nvSpPr>
          <p:cNvPr id="7" name="callout-rule">
            <a:extLst xmlns:a="http://schemas.openxmlformats.org/drawingml/2006/main">
              <a:ext uri="{FF2B5EF4-FFF2-40B4-BE49-F238E27FC236}">
                <a16:creationId xmlns:a16="http://schemas.microsoft.com/office/drawing/2014/main" id="{527BD1FC-B88F-4E64-B8E4-7620243F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3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866C6DF6-D072-4865-A19B-46A025A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10283A"/>
                </a:solidFill>
              </a:defRPr>
            </a:pPr>
            <a:r>
              <a:rPr sz="1725" b="0" i="1">
                <a:solidFill>
                  <a:srgbClr val="10283A"/>
                </a:solidFill>
              </a:rPr>
              <a:t>For Asteron: connect release friction to onboarding speed, operational reliability and transformation risk.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30B2E48-E7E7-426D-92E9-C1EEE74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103100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EB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256EE7E0-20F4-4921-88A8-8647A35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4401E0A-A9FC-4776-9B5E-F21ABDD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APPLICATION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999C8D-3F89-4DA9-BE18-13C649E9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14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8E7021-6E51-4E77-A327-72C185DA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Build the first eight minutes of the Asteron conversation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A6C86C7D-4A72-4475-BA52-D2600A1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Your goal is not to complete discovery. It is to establish relevance, understand the business trigger and earn the next layer of conversation.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B3E1567A-4697-4B3B-8231-32E835D7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Open with a relevant point of view.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Ask one situation question and two consequence questions.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Follow up on one significant word.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Avoid premature solutioning.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Secure a credible next commitment.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94BDB148-BF2D-4F1A-A025-A69EAE5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00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3F95388E-B102-41F1-8EA6-0309F92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E8B34C"/>
                </a:solidFill>
              </a:defRPr>
            </a:pPr>
            <a:r>
              <a:rPr sz="975" b="1" i="0">
                <a:solidFill>
                  <a:srgbClr val="E8B34C"/>
                </a:solidFill>
              </a:rPr>
              <a:t>PAUSE &amp; APPLY</a:t>
            </a:r>
          </a:p>
        </p:txBody>
      </p:sp>
      <p:sp>
        <p:nvSpPr>
          <p:cNvPr id="9" name="prompt">
            <a:extLst xmlns:a="http://schemas.openxmlformats.org/drawingml/2006/main">
              <a:ext uri="{FF2B5EF4-FFF2-40B4-BE49-F238E27FC236}">
                <a16:creationId xmlns:a16="http://schemas.microsoft.com/office/drawing/2014/main" id="{FA0D27B8-38B2-413A-B0E1-F8C47FD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What will the customer understand or reveal by minute eight?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B85224A-FCC2-4205-8255-840280B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598510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561BBB1F-27CD-4041-A155-0172F464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489DBC5-AC9C-4CBF-B781-D059931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ROLE-PLAY TRIAD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4E754F-5B38-4CD5-A13D-C1D8729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15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FD54B-F2F5-48C4-BB7D-51296CEE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Three roles create three different learning lenses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1CE7632-72BE-47C8-B755-8AA02B4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The salesperson practises; the customer protects private context; the observer watches for evidence of effective behaviour.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F28C2C7C-930B-4E51-876E-0145C936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A · Salesperson — advance understanding without pitching</a:t>
            </a:r>
          </a:p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B · Customer — reveal information only when the conversation earns it</a:t>
            </a:r>
          </a:p>
        </p:txBody>
      </p:sp>
      <p:sp>
        <p:nvSpPr>
          <p:cNvPr id="7" name="key-points">
            <a:extLst xmlns:a="http://schemas.openxmlformats.org/drawingml/2006/main">
              <a:ext uri="{FF2B5EF4-FFF2-40B4-BE49-F238E27FC236}">
                <a16:creationId xmlns:a16="http://schemas.microsoft.com/office/drawing/2014/main" id="{1EB9D672-E89F-496A-AF48-5488E02F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0283A"/>
                </a:solidFill>
              </a:defRPr>
            </a:pPr>
            <a:r>
              <a:rPr sz="1575" b="0" i="0">
                <a:solidFill>
                  <a:srgbClr val="10283A"/>
                </a:solidFill>
              </a:rPr>
              <a:t>—  C · Observer — capture evidence, not general impressions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B95DDB6E-489F-4FDE-B8CA-AECBFA2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9694C"/>
                </a:solidFill>
              </a:defRPr>
            </a:pPr>
            <a:r>
              <a:rPr sz="1425" b="1" i="0">
                <a:solidFill>
                  <a:srgbClr val="E9694C"/>
                </a:solidFill>
              </a:rPr>
              <a:t>Rotate roles so every learner experiences all three perspectives.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9052EE1-7DE9-4266-8E47-F1DDF146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218256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EB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DBC500C1-459C-4219-9232-DE09FCBA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9E9E943-4445-463A-92DF-91439E95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CASE LAB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2BDCED-067C-42D4-9D2E-099B9127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16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97F0C3-5371-4713-A42D-A74BC0F4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The strongest next step is the one the customer is ready to own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CE8C63B5-4146-4C79-B45F-5E5F396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Asteron asks about governance, references, a 90-day pathway and who should attend a workshop. These questions suggest the customer is testing feasibility and internal movement.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F507E13C-CA70-4B4B-9CAA-3A111BF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Summarise the business situation in customer language.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Confirm the success and risk criteria that remain unknown.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Propose a workshop with the right stakeholders and a clear purpose.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10E5E4F2-53BB-4778-92AD-509123F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00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4E31C230-9C15-4890-96D7-D878AC4D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E8B34C"/>
                </a:solidFill>
              </a:defRPr>
            </a:pPr>
            <a:r>
              <a:rPr sz="975" b="1" i="0">
                <a:solidFill>
                  <a:srgbClr val="E8B34C"/>
                </a:solidFill>
              </a:rPr>
              <a:t>PAUSE &amp; APPLY</a:t>
            </a:r>
          </a:p>
        </p:txBody>
      </p:sp>
      <p:sp>
        <p:nvSpPr>
          <p:cNvPr id="9" name="prompt">
            <a:extLst xmlns:a="http://schemas.openxmlformats.org/drawingml/2006/main">
              <a:ext uri="{FF2B5EF4-FFF2-40B4-BE49-F238E27FC236}">
                <a16:creationId xmlns:a16="http://schemas.microsoft.com/office/drawing/2014/main" id="{3588E97A-0DA3-4653-AC6D-34C7B93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What exact commitment would you ask Priya to make?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953209B-A730-44F9-861F-EB33B85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7088996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288A6ECA-D384-4F31-95AB-DB496CB1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A31F46B-15B2-4060-8963-6638859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9694C"/>
                </a:solidFill>
              </a:defRPr>
            </a:pPr>
            <a:r>
              <a:rPr sz="1125" b="1" i="0">
                <a:solidFill>
                  <a:srgbClr val="E9694C"/>
                </a:solidFill>
              </a:rPr>
              <a:t>LEARNING TRANSFER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967866-09A1-494F-A93F-70B7A14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C8A91"/>
                </a:solidFill>
              </a:defRPr>
            </a:pPr>
            <a:r>
              <a:rPr sz="975" b="1" i="0">
                <a:solidFill>
                  <a:srgbClr val="7C8A91"/>
                </a:solidFill>
              </a:rPr>
              <a:t>17 / 17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BB6751-02E6-4E4D-8052-0F6512B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0283A"/>
                </a:solidFill>
              </a:defRPr>
            </a:pPr>
            <a:r>
              <a:rPr sz="3300" b="1" i="0">
                <a:solidFill>
                  <a:srgbClr val="10283A"/>
                </a:solidFill>
              </a:rPr>
              <a:t>The demo ends when workplace application begins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BB3E31F6-BBA8-4D8E-8F2F-0B2D70C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06773"/>
                </a:solidFill>
              </a:defRPr>
            </a:pPr>
            <a:r>
              <a:rPr sz="1725" b="0" i="0">
                <a:solidFill>
                  <a:srgbClr val="506773"/>
                </a:solidFill>
              </a:rPr>
              <a:t>Capture one shift in how you think, one behaviour you will practise and one customer opportunity where you will apply it.</a:t>
            </a:r>
          </a:p>
        </p:txBody>
      </p:sp>
      <p:sp>
        <p:nvSpPr>
          <p:cNvPr id="6" name="key-points">
            <a:extLst xmlns:a="http://schemas.openxmlformats.org/drawingml/2006/main">
              <a:ext uri="{FF2B5EF4-FFF2-40B4-BE49-F238E27FC236}">
                <a16:creationId xmlns:a16="http://schemas.microsoft.com/office/drawing/2014/main" id="{4954800E-D389-4BCB-84C3-958AD976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My key takeaway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The behaviour I will change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The opportunity where I will apply it</a:t>
            </a:r>
          </a:p>
          <a:p xmlns:a="http://schemas.openxmlformats.org/drawingml/2006/main">
            <a:pPr>
              <a:defRPr sz="1650" b="0" i="0">
                <a:solidFill>
                  <a:srgbClr val="10283A"/>
                </a:solidFill>
              </a:defRPr>
            </a:pPr>
            <a:r>
              <a:rPr sz="1650" b="0" i="0">
                <a:solidFill>
                  <a:srgbClr val="10283A"/>
                </a:solidFill>
              </a:rPr>
              <a:t>—  The support or feedback I need</a:t>
            </a:r>
          </a:p>
        </p:txBody>
      </p:sp>
      <p:sp>
        <p:nvSpPr>
          <p:cNvPr id="7" name="callout-rule">
            <a:extLst xmlns:a="http://schemas.openxmlformats.org/drawingml/2006/main">
              <a:ext uri="{FF2B5EF4-FFF2-40B4-BE49-F238E27FC236}">
                <a16:creationId xmlns:a16="http://schemas.microsoft.com/office/drawing/2014/main" id="{6AA43C0F-03B2-4846-B139-C1711ADB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3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3011EA95-563C-4F46-A071-07ACE62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10283A"/>
                </a:solidFill>
              </a:defRPr>
            </a:pPr>
            <a:r>
              <a:rPr sz="1725" b="0" i="1">
                <a:solidFill>
                  <a:srgbClr val="10283A"/>
                </a:solidFill>
              </a:rPr>
              <a:t>Sales ownership is sustained through deliberate practice, reflection and feedback.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25FDB3F-062B-48FE-B062-FD4B22E4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869197"/>
                </a:solidFill>
              </a:defRPr>
            </a:pPr>
            <a:r>
              <a:rPr sz="825" b="0" i="0">
                <a:solidFill>
                  <a:srgbClr val="869197"/>
                </a:solidFill>
              </a:rPr>
              <a:t>Skills4Sales · Asteron Mobility</a:t>
            </a:r>
          </a:p>
        </p:txBody>
      </p:sp>
    </p:spTree>
    <p:extLst>
      <p:ext uri="{BB962C8B-B14F-4D97-AF65-F5344CB8AC3E}">
        <p14:creationId xmlns:p14="http://schemas.microsoft.com/office/powerpoint/2010/main" val="194670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2026-08-25T05:21:53.5630000Z</dcterms:created>
  <dcterms:modified xsi:type="dcterms:W3CDTF">2026-08-25T05:21:53.5630000Z</dcterms:modified>
</coreProperties>
</file>